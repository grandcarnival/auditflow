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vml" ContentType="application/vnd.openxmlformats-officedocument.vmlDrawin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Open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High</c:v>
                </c:pt>
                <c:pt idx="1">
                  <c:v>Medium</c:v>
                </c:pt>
                <c:pt idx="2">
                  <c:v>Low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7</c:v>
                </c:pt>
                <c:pt idx="2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Closed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High</c:v>
                </c:pt>
                <c:pt idx="1">
                  <c:v>Medium</c:v>
                </c:pt>
                <c:pt idx="2">
                  <c:v>Low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</c:v>
                </c:pt>
                <c:pt idx="1">
                  <c:v>5</c:v>
                </c:pt>
                <c:pt idx="2">
                  <c:v>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Speaker note: Preserve committee-facing cover language.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Speaker note: Discuss remediation trend and high-risk open findings.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Speaker note: Confirm management owner and due date.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Notes1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Notes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Notes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FY2026 Audit Committee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Prior-year template | Confidential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91695" cy="32004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525780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Audit scope completed across core financial controls.</a:t>
            </a:r>
          </a:p>
          <a:p>
            <a:pPr>
              <a:defRPr sz="1800"/>
            </a:pPr>
            <a:r>
              <a:t>One high-priority finding remains open.</a:t>
            </a:r>
          </a:p>
          <a:p>
            <a:pPr>
              <a:defRPr sz="1800"/>
            </a:pPr>
            <a:r>
              <a:t>Management remediation cadence improved quarter over quarter.</a:t>
            </a:r>
          </a:p>
          <a:p>
            <a:pPr>
              <a:defRPr sz="1800"/>
            </a:pPr>
            <a:r>
              <a:t>Committee attention requested for access governance.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0" y="1143000"/>
          <a:ext cx="48463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5440"/>
                <a:gridCol w="1615440"/>
                <a:gridCol w="1615440"/>
              </a:tblGrid>
              <a:tr h="457200">
                <a:tc>
                  <a:txBody>
                    <a:bodyPr/>
                    <a:lstStyle/>
                    <a:p>
                      <a:r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Closed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46520" y="3337560"/>
          <a:ext cx="466344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Finding Detail | Privileged Access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Condition: Privileged access reviews lacked complete approval evidence.</a:t>
            </a:r>
          </a:p>
          <a:p>
            <a:r>
              <a:t>Risk: High</a:t>
            </a:r>
          </a:p>
          <a:p>
            <a:r>
              <a:t>Recommendation: Require quarterly evidence capture and exception escalation.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